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256" y="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08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PDF CHECK MINERU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2C39A"/>
                </a:solidFill>
                <a:latin typeface="Calibri"/>
              </a:defRPr>
            </a:pPr>
            <a:r>
              <a:t>智慧型 PDF 文件差異比對系統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27432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 b="0">
                <a:solidFill>
                  <a:srgbClr val="CADCFC"/>
                </a:solidFill>
                <a:latin typeface="Calibri"/>
              </a:defRPr>
            </a:pPr>
            <a:r>
              <a:t>結合 MinerU + Docling + PyMuPDF 多層解析引擎</a:t>
            </a:r>
            <a:br/>
            <a:r>
              <a:t>四策略平行差異偵測（文字 / 表格 / 像素 / 圖片）</a:t>
            </a:r>
            <a:br/>
            <a:r>
              <a:t>全流程審計追蹤與多格式匯出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42415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5321808"/>
            <a:ext cx="9509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C39A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1095" y="5303520"/>
            <a:ext cx="1152144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5" y="5321808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C39A"/>
                </a:solidFill>
                <a:latin typeface="Calibri"/>
              </a:defRPr>
            </a:pPr>
            <a:r>
              <a:t>React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5303520"/>
            <a:ext cx="1371600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53218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C39A"/>
                </a:solidFill>
                <a:latin typeface="Calibri"/>
              </a:defRPr>
            </a:pPr>
            <a:r>
              <a:t>MinerU 3.x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5303520"/>
            <a:ext cx="1042415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5321808"/>
            <a:ext cx="9509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C39A"/>
                </a:solidFill>
                <a:latin typeface="Calibri"/>
              </a:defRPr>
            </a:pPr>
            <a:r>
              <a:t>Docling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8736" y="5303520"/>
            <a:ext cx="1042415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34456" y="5321808"/>
            <a:ext cx="9509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C39A"/>
                </a:solidFill>
                <a:latin typeface="Calibri"/>
              </a:defRPr>
            </a:pPr>
            <a:r>
              <a:t>PyMuPDF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5303520"/>
            <a:ext cx="932688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14032" y="5321808"/>
            <a:ext cx="841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C39A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303520"/>
            <a:ext cx="1261872" cy="34747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5321808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C39A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技術架構文件  |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系統架構總覽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  <a:latin typeface="Calibri"/>
              </a:defRPr>
            </a:pPr>
            <a:r>
              <a:rPr sz="1200"/>
              <a:t>🖥  Frontend — 前端介面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154679" cy="1106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/>
              <a:t>React 19 + TypeScript + Vite 8 </a:t>
            </a:r>
            <a:r>
              <a:rPr sz="1200" dirty="0" err="1"/>
              <a:t>建構</a:t>
            </a:r>
            <a:endParaRPr sz="1200" dirty="0"/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/>
              <a:t>react-pdf </a:t>
            </a:r>
            <a:r>
              <a:rPr sz="1200" dirty="0" err="1"/>
              <a:t>渲染</a:t>
            </a:r>
            <a:r>
              <a:rPr sz="1200" dirty="0"/>
              <a:t> </a:t>
            </a:r>
            <a:r>
              <a:rPr sz="1200" dirty="0" err="1"/>
              <a:t>PDF，支援縮放</a:t>
            </a:r>
            <a:r>
              <a:rPr sz="1200" dirty="0"/>
              <a:t>/</a:t>
            </a:r>
            <a:r>
              <a:rPr sz="1200" dirty="0" err="1"/>
              <a:t>平移</a:t>
            </a:r>
            <a:endParaRPr sz="1200" dirty="0"/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Zustand</a:t>
            </a:r>
            <a:r>
              <a:rPr sz="1200" dirty="0"/>
              <a:t> </a:t>
            </a:r>
            <a:r>
              <a:rPr sz="1200" dirty="0" err="1"/>
              <a:t>輕量狀態管理</a:t>
            </a:r>
            <a:r>
              <a:rPr sz="1200" dirty="0"/>
              <a:t> (auth, compare)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DiffOverlay</a:t>
            </a:r>
            <a:r>
              <a:rPr sz="1200" dirty="0"/>
              <a:t> </a:t>
            </a:r>
            <a:r>
              <a:rPr sz="1200" dirty="0" err="1"/>
              <a:t>元件即時繪製差異框</a:t>
            </a:r>
            <a:endParaRPr sz="1200" dirty="0"/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/>
              <a:t>Tailwind CSS </a:t>
            </a:r>
            <a:r>
              <a:rPr sz="1200" dirty="0" err="1"/>
              <a:t>響應式佈局</a:t>
            </a:r>
            <a:endParaRPr sz="1200" dirty="0"/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840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54864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4389120" y="1261872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  <a:latin typeface="Calibri"/>
              </a:defRPr>
            </a:pPr>
            <a:r>
              <a:rPr sz="1200"/>
              <a:t>⚙  Backend — 後端服務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3520440" cy="1106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FastAPI + Uvicorn 非同步 HTTP/WS 伺服器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6 組 REST API 路由 + WebSocket 即時推送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BackgroundTasks 非阻塞 PDF 解析排程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SQLite 持久化 (專案/比對/審計/清單)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PBKDF2-HMAC-SHA256 密碼 + JWT 認證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1887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8412480" y="1188720"/>
            <a:ext cx="54864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8595359" y="1261872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  <a:latin typeface="Calibri"/>
              </a:defRPr>
            </a:pPr>
            <a:r>
              <a:rPr sz="1200"/>
              <a:t>🐳  MinerU 微服務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1554480"/>
            <a:ext cx="3063240" cy="1106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獨立 Docker 容器 (Port 18080)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深度學習 Layout Analysis 模型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繁中 (chinese_cht) 最佳化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模型快取 Volume (~5-8 GB)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Healthcheck 自動恢復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114300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rPr sz="1200"/>
              <a:t>DATA FLOW  資料流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9768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365760" y="4297680"/>
            <a:ext cx="210312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18287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28090"/>
                </a:solidFill>
                <a:latin typeface="Calibri"/>
              </a:defRPr>
            </a:pPr>
            <a:r>
              <a:rPr sz="1200"/>
              <a:t>① 上傳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1956816" cy="492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334055"/>
                </a:solidFill>
                <a:latin typeface="Calibri"/>
              </a:defRPr>
            </a:pPr>
            <a:r>
              <a:rPr sz="1200" dirty="0"/>
              <a:t>old.pdf + new.pdf</a:t>
            </a:r>
            <a:br>
              <a:rPr sz="1200" dirty="0"/>
            </a:br>
            <a:r>
              <a:rPr sz="1200" dirty="0"/>
              <a:t>POST /</a:t>
            </a:r>
            <a:r>
              <a:rPr sz="1200" dirty="0" err="1"/>
              <a:t>api</a:t>
            </a:r>
            <a:r>
              <a:rPr sz="1200" dirty="0"/>
              <a:t>/compare/upload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29768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2651760" y="4297680"/>
            <a:ext cx="2103120" cy="45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TextBox 24"/>
          <p:cNvSpPr txBox="1"/>
          <p:nvPr/>
        </p:nvSpPr>
        <p:spPr>
          <a:xfrm>
            <a:off x="2788920" y="4407408"/>
            <a:ext cx="18287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  <a:latin typeface="Calibri"/>
              </a:defRPr>
            </a:pPr>
            <a:r>
              <a:rPr sz="1200"/>
              <a:t>② 解析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709160"/>
            <a:ext cx="1828799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334055"/>
                </a:solidFill>
                <a:latin typeface="Calibri"/>
              </a:defRPr>
            </a:pPr>
            <a:r>
              <a:rPr sz="1200"/>
              <a:t>4 層 Fallback 引擎</a:t>
            </a:r>
            <a:br>
              <a:rPr sz="1200"/>
            </a:br>
            <a:r>
              <a:rPr sz="1200"/>
              <a:t>平行 MinerU + Docling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29768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Rectangle 27"/>
          <p:cNvSpPr/>
          <p:nvPr/>
        </p:nvSpPr>
        <p:spPr>
          <a:xfrm>
            <a:off x="4937760" y="4297680"/>
            <a:ext cx="21031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5074920" y="4407408"/>
            <a:ext cx="18287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rPr sz="1200"/>
              <a:t>③ 差異比對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709160"/>
            <a:ext cx="1828799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334055"/>
                </a:solidFill>
                <a:latin typeface="Calibri"/>
              </a:defRPr>
            </a:pPr>
            <a:r>
              <a:rPr sz="1200"/>
              <a:t>4 策略平行執行</a:t>
            </a:r>
            <a:br>
              <a:rPr sz="1200"/>
            </a:br>
            <a:r>
              <a:rPr sz="1200"/>
              <a:t>文字/表格/像素/圖片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429768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Rectangle 31"/>
          <p:cNvSpPr/>
          <p:nvPr/>
        </p:nvSpPr>
        <p:spPr>
          <a:xfrm>
            <a:off x="7223760" y="4297680"/>
            <a:ext cx="210312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TextBox 32"/>
          <p:cNvSpPr txBox="1"/>
          <p:nvPr/>
        </p:nvSpPr>
        <p:spPr>
          <a:xfrm>
            <a:off x="7360920" y="4407408"/>
            <a:ext cx="18287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rPr sz="1200"/>
              <a:t>④ 審查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709160"/>
            <a:ext cx="1828799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334055"/>
                </a:solidFill>
                <a:latin typeface="Calibri"/>
              </a:defRPr>
            </a:pPr>
            <a:r>
              <a:rPr sz="1200"/>
              <a:t>WebSocket 即時進度</a:t>
            </a:r>
            <a:br>
              <a:rPr sz="1200"/>
            </a:br>
            <a:r>
              <a:rPr sz="1200"/>
              <a:t>側邊欄逐項確認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429768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Rectangle 35"/>
          <p:cNvSpPr/>
          <p:nvPr/>
        </p:nvSpPr>
        <p:spPr>
          <a:xfrm>
            <a:off x="9509760" y="4297680"/>
            <a:ext cx="210312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7" name="TextBox 36"/>
          <p:cNvSpPr txBox="1"/>
          <p:nvPr/>
        </p:nvSpPr>
        <p:spPr>
          <a:xfrm>
            <a:off x="9646920" y="4407408"/>
            <a:ext cx="18287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rPr sz="1200"/>
              <a:t>⑤ 匯出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4709160"/>
            <a:ext cx="1828799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334055"/>
                </a:solidFill>
                <a:latin typeface="Calibri"/>
              </a:defRPr>
            </a:pPr>
            <a:r>
              <a:rPr sz="1200"/>
              <a:t>PDF 標註 / Excel</a:t>
            </a:r>
            <a:br>
              <a:rPr sz="1200"/>
            </a:br>
            <a:r>
              <a:rPr sz="1200"/>
              <a:t>Markdown / 審計紀錄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466344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rPr sz="1200"/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466344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rPr sz="1200"/>
              <a:t>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466344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rPr sz="1200"/>
              <a:t>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168" y="466344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rPr sz="1200"/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94360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/>
              <a:t>🔒 Docker Compose 多容器編排  |  內部 Bridge 網路  |  Volume 持久化 (runtime + model cache)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PDF 解析技術  Multi-Layer Parsing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005840" cy="32004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200"/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078992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28090"/>
                </a:solidFill>
                <a:latin typeface="Calibri"/>
              </a:defRPr>
            </a:pPr>
            <a:r>
              <a:rPr sz="1200"/>
              <a:t>PyMuPDF (fitz)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5331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/>
              <a:t>永遠首先執行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051560"/>
            <a:ext cx="6492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5440680" y="1115568"/>
            <a:ext cx="6217920" cy="85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原始</a:t>
            </a:r>
            <a:r>
              <a:rPr sz="1200" dirty="0"/>
              <a:t> PDF </a:t>
            </a:r>
            <a:r>
              <a:rPr sz="1200" dirty="0" err="1"/>
              <a:t>文字層擷取</a:t>
            </a:r>
            <a:r>
              <a:rPr sz="1200" dirty="0"/>
              <a:t> (</a:t>
            </a:r>
            <a:r>
              <a:rPr sz="1200" dirty="0" err="1"/>
              <a:t>rawdict</a:t>
            </a:r>
            <a:r>
              <a:rPr sz="1200" dirty="0"/>
              <a:t> </a:t>
            </a:r>
            <a:r>
              <a:rPr sz="1200" dirty="0" err="1"/>
              <a:t>格式</a:t>
            </a:r>
            <a:r>
              <a:rPr sz="1200" dirty="0"/>
              <a:t>)</a:t>
            </a:r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字元級</a:t>
            </a:r>
            <a:r>
              <a:rPr sz="1200" dirty="0"/>
              <a:t> </a:t>
            </a:r>
            <a:r>
              <a:rPr sz="1200" dirty="0" err="1"/>
              <a:t>BBox</a:t>
            </a:r>
            <a:r>
              <a:rPr sz="1200" dirty="0"/>
              <a:t> </a:t>
            </a:r>
            <a:r>
              <a:rPr sz="1200" dirty="0" err="1"/>
              <a:t>座標定位</a:t>
            </a:r>
            <a:endParaRPr sz="1200" dirty="0"/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影像型</a:t>
            </a:r>
            <a:r>
              <a:rPr sz="1200" dirty="0"/>
              <a:t> PDF </a:t>
            </a:r>
            <a:r>
              <a:rPr sz="1200" dirty="0" err="1"/>
              <a:t>偵測</a:t>
            </a:r>
            <a:r>
              <a:rPr sz="1200" dirty="0"/>
              <a:t> (&lt;10 字/頁 + ≥70% </a:t>
            </a:r>
            <a:r>
              <a:rPr sz="1200" dirty="0" err="1"/>
              <a:t>圖像</a:t>
            </a:r>
            <a:r>
              <a:rPr sz="1200" dirty="0"/>
              <a:t>)</a:t>
            </a:r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偵測到純圖</a:t>
            </a:r>
            <a:r>
              <a:rPr sz="1200" dirty="0"/>
              <a:t> → </a:t>
            </a:r>
            <a:r>
              <a:rPr sz="1200" dirty="0" err="1"/>
              <a:t>直接跳至像素比對</a:t>
            </a:r>
            <a:endParaRPr sz="1200" dirty="0"/>
          </a:p>
        </p:txBody>
      </p:sp>
      <p:sp>
        <p:nvSpPr>
          <p:cNvPr id="11" name="Rectangle 10"/>
          <p:cNvSpPr/>
          <p:nvPr/>
        </p:nvSpPr>
        <p:spPr>
          <a:xfrm>
            <a:off x="4846320" y="1216152"/>
            <a:ext cx="457200" cy="228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sz="1200"/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514600"/>
            <a:ext cx="1005840" cy="3200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11480" y="25328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200"/>
              <a:t>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496312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5A82"/>
                </a:solidFill>
                <a:latin typeface="Calibri"/>
              </a:defRPr>
            </a:pPr>
            <a:r>
              <a:rPr sz="1200"/>
              <a:t>MinerU + Docling  ⚡並行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77063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/>
              <a:t>ThreadPoolExecutor 競速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468880"/>
            <a:ext cx="6492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5440680" y="2532888"/>
            <a:ext cx="6217920" cy="85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MinerU：深度學習版面分析 + 複雜表格 HTML</a:t>
            </a:r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Docling：Layout ML + Tesseract OCR</a:t>
            </a:r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雙引擎同時啟動，先完成者勝出</a:t>
            </a:r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消除 MinerU 300s 逾時瓶頸，加速 30-50%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633472"/>
            <a:ext cx="457200" cy="228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sz="1200"/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931920"/>
            <a:ext cx="10058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411480" y="395020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200"/>
              <a:t>Layer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13632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rPr sz="1200"/>
              <a:t>pdftotext (Poppler)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8795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/>
              <a:t>備援層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3886200"/>
            <a:ext cx="6492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5440680" y="3950207"/>
            <a:ext cx="6217920" cy="66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Layout-preserving 純文字擷取</a:t>
            </a:r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無結構化表格或精確 BBox</a:t>
            </a:r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合成 BBox（逐行估算座標）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4050791"/>
            <a:ext cx="45720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685800" y="4983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sz="1200"/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212079"/>
            <a:ext cx="100584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TextBox 29"/>
          <p:cNvSpPr txBox="1"/>
          <p:nvPr/>
        </p:nvSpPr>
        <p:spPr>
          <a:xfrm>
            <a:off x="411480" y="523036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200"/>
              <a:t>Layer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193792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Calibri"/>
              </a:defRPr>
            </a:pPr>
            <a:r>
              <a:rPr sz="1200"/>
              <a:t>Tesseract OCR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46811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sz="1200"/>
              <a:t>最終防線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5166359"/>
            <a:ext cx="6492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5440680" y="5230367"/>
            <a:ext cx="6217920" cy="66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pdftoppm 200 DPI 光柵化 → OCR</a:t>
            </a:r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處理完全無文字層的掃描 PDF</a:t>
            </a:r>
          </a:p>
          <a:p>
            <a:pPr marL="274320" indent="-182880">
              <a:lnSpc>
                <a:spcPts val="15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速度最慢但涵蓋率最高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5330951"/>
            <a:ext cx="4572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267788" y="6457404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📐 </a:t>
            </a:r>
            <a:r>
              <a:rPr sz="1200" dirty="0" err="1"/>
              <a:t>座標統一：所有層輸出正規化至</a:t>
            </a:r>
            <a:r>
              <a:rPr sz="1200" dirty="0"/>
              <a:t> PDF </a:t>
            </a:r>
            <a:r>
              <a:rPr sz="1200" dirty="0" err="1"/>
              <a:t>左下原點</a:t>
            </a:r>
            <a:r>
              <a:rPr sz="1200" dirty="0"/>
              <a:t> (pt = 1/72 inch)  |  </a:t>
            </a:r>
            <a:r>
              <a:rPr sz="1200" dirty="0" err="1"/>
              <a:t>文字</a:t>
            </a:r>
            <a:r>
              <a:rPr sz="1200" dirty="0"/>
              <a:t> NFKC </a:t>
            </a:r>
            <a:r>
              <a:rPr sz="1200" dirty="0" err="1"/>
              <a:t>正規化</a:t>
            </a:r>
            <a:r>
              <a:rPr sz="1200" dirty="0"/>
              <a:t> + </a:t>
            </a:r>
            <a:r>
              <a:rPr sz="1200" dirty="0" err="1"/>
              <a:t>零寬字元移除</a:t>
            </a:r>
            <a:endParaRPr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差異比對引擎 &amp; 匯出  Diff Engine &amp; Export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" cy="2103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  <a:latin typeface="Calibri"/>
              </a:defRPr>
            </a:pPr>
            <a:r>
              <a:rPr sz="1200"/>
              <a:t>策略 A：文字差異  Text Diff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257800" cy="90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SequenceMatcher</a:t>
            </a:r>
            <a:r>
              <a:rPr sz="1200" dirty="0"/>
              <a:t> </a:t>
            </a:r>
            <a:r>
              <a:rPr sz="1200" dirty="0" err="1"/>
              <a:t>逐段落比對</a:t>
            </a:r>
            <a:endParaRPr sz="1200" dirty="0"/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/>
              <a:t>CJK </a:t>
            </a:r>
            <a:r>
              <a:rPr sz="1200" dirty="0" err="1"/>
              <a:t>逐字</a:t>
            </a:r>
            <a:r>
              <a:rPr sz="1200" dirty="0"/>
              <a:t> / </a:t>
            </a:r>
            <a:r>
              <a:rPr sz="1200" dirty="0" err="1"/>
              <a:t>英文逐詞</a:t>
            </a:r>
            <a:r>
              <a:rPr sz="1200" dirty="0"/>
              <a:t> Tokenize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字元級</a:t>
            </a:r>
            <a:r>
              <a:rPr sz="1200" dirty="0"/>
              <a:t> </a:t>
            </a:r>
            <a:r>
              <a:rPr sz="1200" dirty="0" err="1"/>
              <a:t>BBox</a:t>
            </a:r>
            <a:r>
              <a:rPr sz="1200" dirty="0"/>
              <a:t> </a:t>
            </a:r>
            <a:r>
              <a:rPr sz="1200" dirty="0" err="1"/>
              <a:t>精準定位</a:t>
            </a:r>
            <a:endParaRPr sz="1200" dirty="0"/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自動分類：TEXT</a:t>
            </a:r>
            <a:r>
              <a:rPr sz="1200" dirty="0"/>
              <a:t> / NUMBER / ADDED / DELETED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43000"/>
            <a:ext cx="1097280" cy="256032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4773168" y="1152144"/>
            <a:ext cx="1060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200"/>
              <a:t>信心度 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577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" cy="2103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6400800" y="1170432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  <a:latin typeface="Calibri"/>
              </a:defRPr>
            </a:pPr>
            <a:r>
              <a:rPr sz="1200"/>
              <a:t>策略 B：表格差異  Table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257800" cy="90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/>
              <a:t>Cell-by-Cell </a:t>
            </a:r>
            <a:r>
              <a:rPr sz="1200" dirty="0" err="1"/>
              <a:t>DataFrame</a:t>
            </a:r>
            <a:r>
              <a:rPr sz="1200" dirty="0"/>
              <a:t> </a:t>
            </a:r>
            <a:r>
              <a:rPr sz="1200" dirty="0" err="1"/>
              <a:t>比對</a:t>
            </a:r>
            <a:endParaRPr sz="1200" dirty="0"/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/>
              <a:t>70% </a:t>
            </a:r>
            <a:r>
              <a:rPr sz="1200" dirty="0" err="1"/>
              <a:t>聚合規則</a:t>
            </a:r>
            <a:r>
              <a:rPr sz="1200" dirty="0"/>
              <a:t>：≥70% </a:t>
            </a:r>
            <a:r>
              <a:rPr sz="1200" dirty="0" err="1"/>
              <a:t>格變更</a:t>
            </a:r>
            <a:r>
              <a:rPr sz="1200" dirty="0"/>
              <a:t> → </a:t>
            </a:r>
            <a:r>
              <a:rPr sz="1200" dirty="0" err="1"/>
              <a:t>整表替換</a:t>
            </a:r>
            <a:endParaRPr sz="1200" dirty="0"/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支援</a:t>
            </a:r>
            <a:r>
              <a:rPr sz="1200" dirty="0"/>
              <a:t> </a:t>
            </a:r>
            <a:r>
              <a:rPr sz="1200" dirty="0" err="1"/>
              <a:t>MinerU</a:t>
            </a:r>
            <a:r>
              <a:rPr sz="1200" dirty="0"/>
              <a:t> HTML </a:t>
            </a:r>
            <a:r>
              <a:rPr sz="1200" dirty="0" err="1"/>
              <a:t>rowspan</a:t>
            </a:r>
            <a:r>
              <a:rPr sz="1200" dirty="0"/>
              <a:t>/</a:t>
            </a:r>
            <a:r>
              <a:rPr sz="1200" dirty="0" err="1"/>
              <a:t>colspan</a:t>
            </a:r>
            <a:endParaRPr sz="1200" dirty="0"/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 dirty="0" err="1"/>
              <a:t>精確到儲存格座標的差異標記</a:t>
            </a:r>
            <a:endParaRPr sz="1200" dirty="0"/>
          </a:p>
        </p:txBody>
      </p:sp>
      <p:sp>
        <p:nvSpPr>
          <p:cNvPr id="15" name="Rounded Rectangle 14"/>
          <p:cNvSpPr/>
          <p:nvPr/>
        </p:nvSpPr>
        <p:spPr>
          <a:xfrm>
            <a:off x="10607040" y="1143000"/>
            <a:ext cx="1097280" cy="256032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10625328" y="1152144"/>
            <a:ext cx="1060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200"/>
              <a:t>信心度 0.80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5577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365760" y="3383280"/>
            <a:ext cx="54864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548640" y="3456432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  <a:latin typeface="Calibri"/>
              </a:defRPr>
            </a:pPr>
            <a:r>
              <a:rPr sz="1200"/>
              <a:t>策略 C：像素差異  Pixel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40"/>
            <a:ext cx="5257800" cy="90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二階段 DPI：72 快篩 → 200 精準分析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灰階絕對差值 + 形態學膨脹合併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NCC &gt; 0.98 位移偵測 → 自動排除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連通元件標記 + 面積過濾 (&lt; 200px² 略過)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429000"/>
            <a:ext cx="1097280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4773168" y="3438144"/>
            <a:ext cx="1060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200"/>
              <a:t>信心度 0.95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577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6217920" y="3383280"/>
            <a:ext cx="54864" cy="2103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TextBox 24"/>
          <p:cNvSpPr txBox="1"/>
          <p:nvPr/>
        </p:nvSpPr>
        <p:spPr>
          <a:xfrm>
            <a:off x="6400800" y="3456432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A82"/>
                </a:solidFill>
                <a:latin typeface="Calibri"/>
              </a:defRPr>
            </a:pPr>
            <a:r>
              <a:rPr sz="1200"/>
              <a:t>策略 D：圖片差異  Image Diff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49040"/>
            <a:ext cx="5257800" cy="90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PyMuPDF 提取嵌入圖片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IoU ≥ 0.8 位置配對同一圖片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pHash 感知雜湊 Hamming 距離比對</a:t>
            </a:r>
          </a:p>
          <a:p>
            <a:pPr marL="274320" indent="-182880">
              <a:lnSpc>
                <a:spcPts val="1600"/>
              </a:lnSpc>
              <a:defRPr sz="1100">
                <a:solidFill>
                  <a:srgbClr val="334055"/>
                </a:solidFill>
                <a:latin typeface="Calibri"/>
              </a:defRPr>
            </a:pPr>
            <a:r>
              <a:rPr sz="1200"/>
              <a:t>略過背景圖 (≥ 80% 頁面面積)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07040" y="3429000"/>
            <a:ext cx="109728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10625328" y="3438144"/>
            <a:ext cx="1060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200"/>
              <a:t>信心度 0.85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669280"/>
            <a:ext cx="114300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806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  <a:latin typeface="Calibri"/>
              </a:defRPr>
            </a:pPr>
            <a:r>
              <a:t>後處理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806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4055"/>
                </a:solidFill>
                <a:latin typeface="Calibri"/>
              </a:defRPr>
            </a:pPr>
            <a:r>
              <a:t>Union-Find 合併鄰近差異 (50pt) &gt; BBox 巢狀去重 &gt; 依 (頁, Y座標) 排序 &gt; d001, d002...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806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  <a:latin typeface="Calibri"/>
              </a:defRPr>
            </a:pPr>
            <a:r>
              <a:t>匯出格式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5806440"/>
            <a:ext cx="676656" cy="2743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82127" y="58155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PDF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13648" y="5806440"/>
            <a:ext cx="914400" cy="2743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31936" y="5815584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Excel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5806440"/>
            <a:ext cx="557784" cy="2743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19488" y="5815584"/>
            <a:ext cx="5212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32136" y="5806440"/>
            <a:ext cx="676656" cy="2743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50424" y="58155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CSV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81944" y="5806440"/>
            <a:ext cx="676656" cy="2743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000232" y="58155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Checklist 自動匹配  |  審計追蹤 (reviewer, timestamp, action)  |  WebSocket 即時進度回傳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509</Words>
  <Application>Microsoft Office PowerPoint</Application>
  <PresentationFormat>寬螢幕</PresentationFormat>
  <Paragraphs>111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JY</dc:creator>
  <cp:keywords/>
  <dc:description>generated using python-pptx</dc:description>
  <cp:lastModifiedBy>道寬 袁</cp:lastModifiedBy>
  <cp:revision>2</cp:revision>
  <dcterms:created xsi:type="dcterms:W3CDTF">2013-01-27T09:14:16Z</dcterms:created>
  <dcterms:modified xsi:type="dcterms:W3CDTF">2026-05-04T08:42:47Z</dcterms:modified>
  <cp:category/>
</cp:coreProperties>
</file>